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5" r:id="rId8"/>
    <p:sldId id="267" r:id="rId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-594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pPr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>
                <a:solidFill>
                  <a:srgbClr val="FFFFFF"/>
                </a:solidFill>
              </a:rPr>
              <a:t>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Adaptive Study Companion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5B4FC"/>
                </a:solidFill>
              </a:rPr>
              <a:t>AI-Powered Personalised Learning That Adapts to Every Student in Real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77639"/>
            <a:ext cx="11091672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4069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</a:rPr>
              <a:t>Hackathon  ·  PS 09  ·  Team Adaptive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0" y="1828800"/>
            <a:ext cx="2651760" cy="640080"/>
          </a:xfrm>
          <a:prstGeom prst="rect">
            <a:avLst/>
          </a:prstGeom>
          <a:solidFill>
            <a:srgbClr val="0D3526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34D399"/>
                </a:solidFill>
              </a:rPr>
              <a:t>Engaged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2743200"/>
            <a:ext cx="2651760" cy="640080"/>
          </a:xfrm>
          <a:prstGeom prst="rect">
            <a:avLst/>
          </a:prstGeom>
          <a:solidFill>
            <a:srgbClr val="3E3009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BBF24"/>
                </a:solidFill>
              </a:rPr>
              <a:t>Struggling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1120" y="3657600"/>
            <a:ext cx="2651760" cy="640080"/>
          </a:xfrm>
          <a:prstGeom prst="rect">
            <a:avLst/>
          </a:prstGeom>
          <a:solidFill>
            <a:srgbClr val="3E1C1C"/>
          </a:solidFill>
          <a:ln w="1524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87171"/>
                </a:solidFill>
              </a:rPr>
              <a:t>Fatigued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1672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Traditional learning ignores how students feel while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0972800" cy="685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6002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Students get fatigued but keep pressing forward — quality drops silently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59152"/>
            <a:ext cx="10972800" cy="685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45059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9631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Struggling students don't ask for help — they just give 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55264"/>
            <a:ext cx="10972800" cy="685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3467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392424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Bored students rush through content without retaining anything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51376"/>
            <a:ext cx="10972800" cy="685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2428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288536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Teachers have no visibility into real-time engagement or struggle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047488"/>
            <a:ext cx="10972800" cy="685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5138927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18464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One-size-fits-all content delivery fails the majority of students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Our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1672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An AI study companion that senses, adapts, and teaches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BD5E1"/>
                </a:solidFill>
              </a:rPr>
              <a:t>Adaptive Study Companion monitors behavioural signals as students learn — and automatically adapts the AI tutor's style, pacing, and support to match each student's current state.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2606040" cy="347472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25880" y="26517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366F1"/>
                </a:solidFill>
              </a:rPr>
              <a:t>Sense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86200"/>
            <a:ext cx="2331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Detects Struggle, Boredom &amp; Fatigue from interaction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2377440"/>
            <a:ext cx="2606040" cy="3474720"/>
          </a:xfrm>
          <a:prstGeom prst="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60520" y="26517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38328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4D399"/>
                </a:solidFill>
              </a:rPr>
              <a:t>Adapt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3886200"/>
            <a:ext cx="2331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AI tutor changes tone — simpler for fatigue, challenging for boredom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377440"/>
            <a:ext cx="2606040" cy="3474720"/>
          </a:xfrm>
          <a:prstGeom prst="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95160" y="26517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</a:rPr>
              <a:t>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38328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BBF24"/>
                </a:solidFill>
              </a:rPr>
              <a:t>Assess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886200"/>
            <a:ext cx="2331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Section quizzes graded by AI with gibberish detection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2377440"/>
            <a:ext cx="2606040" cy="3474720"/>
          </a:xfrm>
          <a:prstGeom prst="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829800" y="265176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3383280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A78BFA"/>
                </a:solidFill>
              </a:rPr>
              <a:t>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3886200"/>
            <a:ext cx="2331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Teacher dashboard with per-student behavioural analytics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1672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Real-time feedback loop between student behaviour and AI response</a:t>
            </a:r>
          </a:p>
        </p:txBody>
      </p:sp>
      <p:sp>
        <p:nvSpPr>
          <p:cNvPr id="6" name="Oval 5"/>
          <p:cNvSpPr/>
          <p:nvPr/>
        </p:nvSpPr>
        <p:spPr>
          <a:xfrm>
            <a:off x="960120" y="1645920"/>
            <a:ext cx="1188720" cy="118872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BD5E1"/>
                </a:solidFill>
              </a:rPr>
              <a:t>Student
Reads Content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2148840"/>
            <a:ext cx="457200" cy="16459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246120" y="1645920"/>
            <a:ext cx="1188720" cy="11887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9260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BD5E1"/>
                </a:solidFill>
              </a:rPr>
              <a:t>Behavioural
Engine Analyses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148840"/>
            <a:ext cx="457200" cy="16459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532120" y="1645920"/>
            <a:ext cx="1188720" cy="118872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9260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BD5E1"/>
                </a:solidFill>
              </a:rPr>
              <a:t>State
Detected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2148840"/>
            <a:ext cx="457200" cy="16459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818120" y="1645920"/>
            <a:ext cx="1188720" cy="118872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9260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BD5E1"/>
                </a:solidFill>
              </a:rPr>
              <a:t>AI Adapts
Response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2148840"/>
            <a:ext cx="457200" cy="16459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104120" y="1645920"/>
            <a:ext cx="1188720" cy="118872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9260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BD5E1"/>
                </a:solidFill>
              </a:rPr>
              <a:t>Assessment
&amp; Feedback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474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5B4FC"/>
                </a:solidFill>
              </a:rPr>
              <a:t>Signals monitored: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922776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840480"/>
            <a:ext cx="39502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Mouse movement &amp; scroll speed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24528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4142232"/>
            <a:ext cx="39502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Idle / inactive duration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526280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3232" y="4443984"/>
            <a:ext cx="39502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Answer accuracy trend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28032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4745736"/>
            <a:ext cx="39502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Response time changes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129784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3232" y="5047488"/>
            <a:ext cx="39502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AI chat interactions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431536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13232" y="5349240"/>
            <a:ext cx="39502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Tab visibility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3474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5B4FC"/>
                </a:solidFill>
              </a:rPr>
              <a:t>Detected States: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3840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🟢 </a:t>
            </a:r>
            <a:r>
              <a:rPr lang="en-US" sz="1400" b="1" dirty="0" smtClean="0">
                <a:solidFill>
                  <a:srgbClr val="34D399"/>
                </a:solidFill>
              </a:rPr>
              <a:t>   </a:t>
            </a:r>
            <a:r>
              <a:rPr sz="1400" b="1" smtClean="0">
                <a:solidFill>
                  <a:srgbClr val="34D399"/>
                </a:solidFill>
              </a:rPr>
              <a:t>Engaged</a:t>
            </a:r>
            <a:endParaRPr sz="1400" b="1">
              <a:solidFill>
                <a:srgbClr val="34D399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029200" y="4160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</a:rPr>
              <a:t>🟡 </a:t>
            </a:r>
            <a:r>
              <a:rPr lang="en-US" sz="1400" b="1" dirty="0" smtClean="0">
                <a:solidFill>
                  <a:srgbClr val="FBBF24"/>
                </a:solidFill>
              </a:rPr>
              <a:t>   </a:t>
            </a:r>
            <a:r>
              <a:rPr sz="1400" b="1" smtClean="0">
                <a:solidFill>
                  <a:srgbClr val="FBBF24"/>
                </a:solidFill>
              </a:rPr>
              <a:t>Struggling</a:t>
            </a:r>
            <a:endParaRPr sz="1400" b="1">
              <a:solidFill>
                <a:srgbClr val="FBBF24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029200" y="4480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7E8F9"/>
                </a:solidFill>
              </a:rPr>
              <a:t>🔵 </a:t>
            </a:r>
            <a:r>
              <a:rPr lang="en-US" sz="1400" b="1" dirty="0" smtClean="0">
                <a:solidFill>
                  <a:srgbClr val="67E8F9"/>
                </a:solidFill>
              </a:rPr>
              <a:t>   </a:t>
            </a:r>
            <a:r>
              <a:rPr sz="1400" b="1" smtClean="0">
                <a:solidFill>
                  <a:srgbClr val="67E8F9"/>
                </a:solidFill>
              </a:rPr>
              <a:t>Bored</a:t>
            </a:r>
            <a:endParaRPr sz="1400" b="1">
              <a:solidFill>
                <a:srgbClr val="67E8F9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029200" y="48006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87171"/>
                </a:solidFill>
              </a:rPr>
              <a:t>🔴 </a:t>
            </a:r>
            <a:r>
              <a:rPr lang="en-US" sz="1400" b="1" dirty="0" smtClean="0">
                <a:solidFill>
                  <a:srgbClr val="F87171"/>
                </a:solidFill>
              </a:rPr>
              <a:t>   </a:t>
            </a:r>
            <a:r>
              <a:rPr sz="1400" b="1" smtClean="0">
                <a:solidFill>
                  <a:srgbClr val="F87171"/>
                </a:solidFill>
              </a:rPr>
              <a:t>Fatigued</a:t>
            </a:r>
            <a:endParaRPr sz="1400" b="1">
              <a:solidFill>
                <a:srgbClr val="F87171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412480" y="34747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5B4FC"/>
                </a:solidFill>
              </a:rPr>
              <a:t>AI Adapts By: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0" y="3922776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77072" y="3840480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Struggling → Simpler language, analogies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0" y="4224528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577072" y="4142232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Bored → Socratic questions, harder problems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12480" y="4526280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577072" y="4443984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Fatigued → 3 sentences max, break nudge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4828032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77072" y="4745736"/>
            <a:ext cx="3493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Engaged → Rich, detailed explanations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Behavioural Intelligence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1672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Three independent scores drive real-time state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1247120" cy="1417320"/>
          </a:xfrm>
          <a:prstGeom prst="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764792"/>
            <a:ext cx="640080" cy="64008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58191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BBF24"/>
                </a:solidFill>
              </a:rPr>
              <a:t>Struggle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39112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Wrong answers, multiple attempts, AI help requests, slow response times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691640"/>
            <a:ext cx="3840480" cy="16459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315200" y="1691640"/>
            <a:ext cx="1152144" cy="16459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0" y="18928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Threshold: 30/100 (demo)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63240"/>
            <a:ext cx="11247120" cy="1417320"/>
          </a:xfrm>
          <a:prstGeom prst="rect">
            <a:avLst/>
          </a:prstGeom>
          <a:solidFill>
            <a:srgbClr val="1E293B"/>
          </a:solidFill>
          <a:ln w="19050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3410712"/>
            <a:ext cx="640080" cy="640080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2278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7E8F9"/>
                </a:solidFill>
              </a:rPr>
              <a:t>Boredom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85032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Rapid scrolling, fast correct answers, short free-text, no AI interaction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3337560"/>
            <a:ext cx="3840480" cy="16459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0" y="3337560"/>
            <a:ext cx="1152144" cy="164592"/>
          </a:xfrm>
          <a:prstGeom prst="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0" y="35387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Threshold: 30/100 (demo)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09160"/>
            <a:ext cx="11247120" cy="1417320"/>
          </a:xfrm>
          <a:prstGeom prst="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" y="5056632"/>
            <a:ext cx="640080" cy="64008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8737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87171"/>
                </a:solidFill>
              </a:rPr>
              <a:t>Fatigue 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330952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Long idle periods, declining accuracy trend, session duration &gt; 5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4983480"/>
            <a:ext cx="3840480" cy="16459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15200" y="4983480"/>
            <a:ext cx="1152144" cy="16459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0" y="518464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</a:rPr>
              <a:t>Threshold: 30/100 (demo)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5B4FC"/>
                </a:solidFill>
              </a:rPr>
              <a:t>⚡ Scores decay every 30 seconds — active engagement always reduces them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1672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Modern, scalable, AI-native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00" cy="141732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81912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366F1"/>
                </a:solidFill>
              </a:rPr>
              <a:t>⚡ Next.js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39112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App Router, SSR, API rewrites to proxy backend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417320"/>
            <a:ext cx="5486400" cy="1417320"/>
          </a:xfrm>
          <a:prstGeom prst="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581912"/>
            <a:ext cx="5120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4D399"/>
                </a:solidFill>
              </a:rPr>
              <a:t>🐍 </a:t>
            </a:r>
            <a:r>
              <a:rPr lang="en-US" sz="1600" b="1" dirty="0" smtClean="0">
                <a:solidFill>
                  <a:srgbClr val="34D399"/>
                </a:solidFill>
              </a:rPr>
              <a:t>   </a:t>
            </a:r>
            <a:r>
              <a:rPr sz="1600" b="1" smtClean="0">
                <a:solidFill>
                  <a:srgbClr val="34D399"/>
                </a:solidFill>
              </a:rPr>
              <a:t>FastAPI</a:t>
            </a:r>
            <a:endParaRPr sz="1600" b="1">
              <a:solidFill>
                <a:srgbClr val="34D399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92240" y="2039112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Python backend — REST endpoints for chat, assess, sessions, users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63240"/>
            <a:ext cx="5486400" cy="1417320"/>
          </a:xfrm>
          <a:prstGeom prst="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227832"/>
            <a:ext cx="5120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smtClean="0">
                <a:solidFill>
                  <a:srgbClr val="FBBF24"/>
                </a:solidFill>
              </a:rPr>
              <a:t>🐘 </a:t>
            </a:r>
            <a:r>
              <a:rPr lang="en-US" sz="1600" b="1" dirty="0" smtClean="0">
                <a:solidFill>
                  <a:srgbClr val="FBBF24"/>
                </a:solidFill>
              </a:rPr>
              <a:t>   </a:t>
            </a:r>
            <a:r>
              <a:rPr sz="1600" b="1" smtClean="0">
                <a:solidFill>
                  <a:srgbClr val="FBBF24"/>
                </a:solidFill>
              </a:rPr>
              <a:t>PostgreSQL</a:t>
            </a:r>
            <a:endParaRPr sz="1600" b="1">
              <a:solidFill>
                <a:srgbClr val="FBBF24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3685032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Session storage with JSONB for behavioural state history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063240"/>
            <a:ext cx="5486400" cy="1417320"/>
          </a:xfrm>
          <a:prstGeom prst="rect">
            <a:avLst/>
          </a:prstGeom>
          <a:solidFill>
            <a:srgbClr val="1E293B"/>
          </a:solidFill>
          <a:ln w="19050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3227832"/>
            <a:ext cx="5120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7E8F9"/>
                </a:solidFill>
              </a:rPr>
              <a:t>🔍 </a:t>
            </a:r>
            <a:r>
              <a:rPr lang="en-US" sz="1600" b="1" dirty="0" smtClean="0">
                <a:solidFill>
                  <a:srgbClr val="67E8F9"/>
                </a:solidFill>
              </a:rPr>
              <a:t>   </a:t>
            </a:r>
            <a:r>
              <a:rPr sz="1600" b="1" smtClean="0">
                <a:solidFill>
                  <a:srgbClr val="67E8F9"/>
                </a:solidFill>
              </a:rPr>
              <a:t>pgvector </a:t>
            </a:r>
            <a:r>
              <a:rPr sz="1600" b="1">
                <a:solidFill>
                  <a:srgbClr val="67E8F9"/>
                </a:solidFill>
              </a:rPr>
              <a:t>+ 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685032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Topic content embedded as vectors — semantic retrieval for AI context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709160"/>
            <a:ext cx="5486400" cy="1417320"/>
          </a:xfrm>
          <a:prstGeom prst="rect">
            <a:avLst/>
          </a:prstGeom>
          <a:solidFill>
            <a:srgbClr val="1E293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873752"/>
            <a:ext cx="5120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A78BFA"/>
                </a:solidFill>
              </a:rPr>
              <a:t>🤖 </a:t>
            </a:r>
            <a:r>
              <a:rPr lang="en-US" sz="1600" b="1" dirty="0" smtClean="0">
                <a:solidFill>
                  <a:srgbClr val="A78BFA"/>
                </a:solidFill>
              </a:rPr>
              <a:t>   </a:t>
            </a:r>
            <a:r>
              <a:rPr sz="1600" b="1" smtClean="0">
                <a:solidFill>
                  <a:srgbClr val="A78BFA"/>
                </a:solidFill>
              </a:rPr>
              <a:t>Claude </a:t>
            </a:r>
            <a:r>
              <a:rPr sz="1600" b="1">
                <a:solidFill>
                  <a:srgbClr val="A78BFA"/>
                </a:solidFill>
              </a:rPr>
              <a:t>(Anthropic)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30952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Powers the AI tutor (chat) and free-text answer evaluation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709160"/>
            <a:ext cx="5486400" cy="1417320"/>
          </a:xfrm>
          <a:prstGeom prst="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4873752"/>
            <a:ext cx="51206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87171"/>
                </a:solidFill>
              </a:rPr>
              <a:t>💾 </a:t>
            </a:r>
            <a:r>
              <a:rPr lang="en-US" sz="1600" b="1" dirty="0" smtClean="0">
                <a:solidFill>
                  <a:srgbClr val="F87171"/>
                </a:solidFill>
              </a:rPr>
              <a:t>   </a:t>
            </a:r>
            <a:r>
              <a:rPr sz="1600" b="1" smtClean="0">
                <a:solidFill>
                  <a:srgbClr val="F87171"/>
                </a:solidFill>
              </a:rPr>
              <a:t>localStorage</a:t>
            </a:r>
            <a:endParaRPr sz="1600" b="1">
              <a:solidFill>
                <a:srgbClr val="F8717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92240" y="5330952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Client-side session persistence — resume mid-topic on refresh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Real Student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1091672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</a:rPr>
              <a:t>Behavioural patterns captured in our demo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2606040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2423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34D399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2316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Sessions
Recorded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63040"/>
            <a:ext cx="2606040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0" y="1600200"/>
            <a:ext cx="2423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BBF24"/>
                </a:solidFill>
              </a:rPr>
              <a:t>33%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42316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Avg Score
(baseline)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2606040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9359" y="1600200"/>
            <a:ext cx="2423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5B4FC"/>
                </a:solidFill>
              </a:rPr>
              <a:t>4/4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242316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Sections
Completed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463040"/>
            <a:ext cx="2606040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0" y="1600200"/>
            <a:ext cx="2423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87171"/>
                </a:solidFill>
              </a:rPr>
              <a:t>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42316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Most Common
Final State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337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5B4FC"/>
                </a:solidFill>
              </a:rPr>
              <a:t>What the data shows: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31335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" y="3749039"/>
            <a:ext cx="6693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Students scored consistently low (31–35%) — indicates genuine learning difficulty on first pass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42816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4160520"/>
            <a:ext cx="6693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Fatigue was the dominant final state — confirms need for adaptive pacing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54296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4572000"/>
            <a:ext cx="6693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Electric Circuits &amp; Acids and Bases completed fully — engagement held through all sections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65775"/>
            <a:ext cx="73152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3232" y="4983479"/>
            <a:ext cx="6693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Photosynthesis partially completed — dropped at section 2/5 (detected fatigue at that point)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715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5B4FC"/>
                </a:solidFill>
              </a:rPr>
              <a:t>This is exactly what teachers need — early warning before a student disengages completely.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Every student deserves a tutor
that understands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926080"/>
            <a:ext cx="11091672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</a:rPr>
              <a:t>Adaptive Study Companion makes that possible — at scale, in real time, for every classroom.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233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A5B4FC"/>
                </a:solidFill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63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</a:rPr>
              <a:t>Questions &amp; Demo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0" y="1645920"/>
            <a:ext cx="2743200" cy="1097280"/>
          </a:xfrm>
          <a:prstGeom prst="rect">
            <a:avLst/>
          </a:prstGeom>
          <a:solidFill>
            <a:srgbClr val="1E293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52560" y="16916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4D399"/>
                </a:solidFill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22402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Students Tracked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0" y="3017520"/>
            <a:ext cx="2743200" cy="1097280"/>
          </a:xfrm>
          <a:prstGeom prst="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052560" y="3063239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BBF24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361187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Topics Covered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4389120"/>
            <a:ext cx="2743200" cy="1097280"/>
          </a:xfrm>
          <a:prstGeom prst="rect">
            <a:avLst/>
          </a:prstGeom>
          <a:solidFill>
            <a:srgbClr val="1E293B"/>
          </a:solidFill>
          <a:ln w="19050">
            <a:solidFill>
              <a:srgbClr val="A5B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52560" y="443484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A5B4FC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4983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</a:rPr>
              <a:t>Behavioural Signals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571</Words>
  <Application>Microsoft Macintosh PowerPoint</Application>
  <PresentationFormat>Custom</PresentationFormat>
  <Paragraphs>118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Manager/>
  <Company/>
  <LinksUpToDate>false</LinksUpToDate>
  <SharedDoc>false</SharedDoc>
  <HyperlinkBase/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subject/>
  <dc:creator/>
  <cp:keywords/>
  <dc:description>generated using python-pptx</dc:description>
  <cp:lastModifiedBy>Paari Boomibalagan</cp:lastModifiedBy>
  <cp:revision>3</cp:revision>
  <dcterms:created xsi:type="dcterms:W3CDTF">2013-01-27T09:14:16Z</dcterms:created>
  <dcterms:modified xsi:type="dcterms:W3CDTF">2026-05-16T11:02:53Z</dcterms:modified>
  <cp:category/>
</cp:coreProperties>
</file>